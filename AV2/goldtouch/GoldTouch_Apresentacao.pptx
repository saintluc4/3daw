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projeto: Gold Touch é um sistema de agendamento de salão de beleza com frontend SPA, backend PHP e banco MySQL. Stack toda em tecnologias vistas em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as 3 camadas: o frontend em JS nunca acessa o banco diretamente. Toda requisição passa pelo PHP que valida, executa SQL com PDO e retorna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organização separa responsabilidades: cada arquivo PHP cuida de um domínio. O JS não tem lógica de negócio — só UI e chamadas à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banco usa 6 tabelas com FKs. Destaque: ENUM para status/pagamento/nota — mais seguro que VARCHAR. Prepared statements no PDO evitam SQL injection.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PDO Singleton evita abrir múltiplas conexões. A função json_response() padroniza TODAS as respostas — o JS sempre sabe o que esperar.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o password_verify() — as senhas são guardadas como hash bcrypt, nunca em texto puro. O PHP lê o JSON do body via php://input.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importante: verificamos conflito de horário com SELECT antes de INSERT — evita condição de corrida. O UPDATE de pontos acontece na mesma transação.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padrão de centralizar o fetch num objeto API é inspirado em bibliotecas como Axios. O professor pode perguntar sobre async/await — é açúcar sintático sobre Promises.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o coração do sistema: o JS envia o payload, o PHP valida tudo, insere no banco e responde com JSON. O JS usa os dados do JSON para montar a tela de confirmação.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CSS Variables permitem mudar toda a paleta em um só lugar. O design é feito do zero — sem Bootstrap ou Tailwind — para demonstrar domínio de CSS puro.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funcionalidades completas. Cada uma tem backend PHP + query SQL + resposta JSON + atualização de UI no JS. Não é só CRUD — tem regras de negócio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Segurança não é opcional. Prepared Statements previnem SQL injection. bcrypt previne exposição de senhas. Validação dupla evita bypass do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demo, mantenha o DevTools aberto na aba Network. Isso mostra visualmente o fetch() saindo, o PHP respondendo e o JSON chegando — deixa o fluxo JS→PHP→JSON concreto.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Abra para perguntas. Se o professor perguntar sobre escalabilidade: seria possível adicionar cache (Redis), filas (RabbitMQ) e separar em microsserviços — mas para o escopo do projeto, PHP monolítico com MySQL é a solução certa.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2743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21808" y="2743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14416" y="2743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07024" y="2743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9632" y="2743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84848" y="2743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7456" y="2743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70064" y="2743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62672" y="2743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2743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7888" y="2743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0496" y="2743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33104" y="2743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91440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21808" y="91440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14416" y="91440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07024" y="91440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91440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91440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91440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77456" y="91440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70064" y="91440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62672" y="91440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91440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47888" y="91440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40496" y="91440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33104" y="91440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55448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21808" y="155448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14416" y="155448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07024" y="155448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99632" y="155448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155448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84848" y="155448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77456" y="155448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70064" y="155448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62672" y="155448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0" y="155448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47888" y="155448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40496" y="155448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33104" y="155448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0" y="219456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21808" y="219456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14416" y="219456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07024" y="219456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99632" y="219456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92240" y="219456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84848" y="219456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77456" y="219456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70064" y="219456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62672" y="219456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55280" y="219456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47888" y="219456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40496" y="219456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33104" y="219456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29200" y="283464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21808" y="283464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14416" y="283464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907024" y="283464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99632" y="283464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92240" y="283464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84848" y="283464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077456" y="283464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83464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662672" y="283464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955280" y="283464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247888" y="283464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540496" y="283464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833104" y="283464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029200" y="34747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321808" y="34747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614416" y="34747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07024" y="34747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199632" y="34747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92240" y="34747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84848" y="34747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077456" y="34747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370064" y="34747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662672" y="34747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955280" y="34747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247888" y="34747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540496" y="34747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33104" y="3474720"/>
            <a:ext cx="54864" cy="54864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57200" y="457200"/>
            <a:ext cx="3566160" cy="228600"/>
          </a:xfrm>
          <a:prstGeom prst="roundRect">
            <a:avLst>
              <a:gd name="adj" fmla="val 20000"/>
            </a:avLst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7200" y="457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</a:rPr>
              <a:t>PROJETO INTEGRADOR — DESENVOLVIMENTO WEB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57200" y="9144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Touch</a:t>
            </a:r>
            <a:endParaRPr lang="en-US" sz="7200" dirty="0"/>
          </a:p>
        </p:txBody>
      </p:sp>
      <p:sp>
        <p:nvSpPr>
          <p:cNvPr id="90" name="Text 88"/>
          <p:cNvSpPr/>
          <p:nvPr/>
        </p:nvSpPr>
        <p:spPr>
          <a:xfrm>
            <a:off x="457200" y="22860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Estética &amp; Beleza</a:t>
            </a:r>
            <a:endParaRPr lang="en-US" sz="2800" dirty="0"/>
          </a:p>
        </p:txBody>
      </p:sp>
      <p:sp>
        <p:nvSpPr>
          <p:cNvPr id="91" name="Text 89"/>
          <p:cNvSpPr/>
          <p:nvPr/>
        </p:nvSpPr>
        <p:spPr>
          <a:xfrm>
            <a:off x="457200" y="30175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web completo com PHP, JavaScript e MySQL</a:t>
            </a:r>
            <a:endParaRPr lang="en-US" sz="1500" dirty="0"/>
          </a:p>
        </p:txBody>
      </p:sp>
      <p:sp>
        <p:nvSpPr>
          <p:cNvPr id="92" name="Shape 90"/>
          <p:cNvSpPr/>
          <p:nvPr/>
        </p:nvSpPr>
        <p:spPr>
          <a:xfrm>
            <a:off x="457200" y="365760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7200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8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2121408" y="365760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121408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3785616" y="365760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785616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 (fetch)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5449824" y="365760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449824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CSS3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7114032" y="365760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114032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 Sistema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as camadas se comunicam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CSS + JavaScript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— Navegação sem recarregar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fetch() para todas as requisições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Variables + Responsivo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2697480"/>
            <a:ext cx="274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25786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 + PDO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542032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em PHP puro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Statements (segurança)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+ autenticação bcrypt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2697480"/>
            <a:ext cx="274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5786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12344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0FDF4"/>
          </a:solidFill>
          <a:ln w="25400">
            <a:solidFill>
              <a:srgbClr val="27745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1792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77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2542032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tabelas relacionadas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Keys + Índices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iniciais no schema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Fluxo de dados:  JS  →  fetch('/api/...')  →  PHP valida + SQL  →  json_response([...])  →  JS atualiza a UI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de Arquivos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2084832" cy="228600"/>
          </a:xfrm>
          <a:prstGeom prst="roundRect">
            <a:avLst>
              <a:gd name="adj" fmla="val 20000"/>
            </a:avLst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</a:rPr>
              <a:t>Organização do Projeto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754880" cy="384048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16128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6128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16128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1155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goldtouch/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399032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goldtouch/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index.php           ← SPA (interface HTML)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database.sql        ← Schema + dados iniciais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auth.php        ← Login / Registro / Sessão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servicos.php    ← Catálogo + Horários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agendamentos.php← CRUD de agendamentos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extras.php      ← Avaliações, Cupons, Planos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includes/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config.php      ← PDO + helpers 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style.css       ← Design completo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js/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app.js          ← fetch() + lógica de UI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94960" y="1051560"/>
            <a:ext cx="1783080" cy="1737360"/>
          </a:xfrm>
          <a:prstGeom prst="roundRect">
            <a:avLst>
              <a:gd name="adj" fmla="val 5263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234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6002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index.php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9202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 interface HTML da SPA. Modais, páginas e estrutura.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1051560"/>
            <a:ext cx="1783080" cy="1737360"/>
          </a:xfrm>
          <a:prstGeom prst="roundRect">
            <a:avLst>
              <a:gd name="adj" fmla="val 5263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1234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69480" y="16002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api/*.php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60920" y="19202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PHP. Cada arquivo = um recurso da API.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94960" y="2971800"/>
            <a:ext cx="1783080" cy="1737360"/>
          </a:xfrm>
          <a:prstGeom prst="roundRect">
            <a:avLst>
              <a:gd name="adj" fmla="val 5263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3154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35204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384048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com CSS Variables. Responsivo e sem frameworks.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69480" y="2971800"/>
            <a:ext cx="1783080" cy="1737360"/>
          </a:xfrm>
          <a:prstGeom prst="roundRect">
            <a:avLst>
              <a:gd name="adj" fmla="val 5263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3154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69480" y="35204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60920" y="384048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API.xxx() centraliza todos os fetch() do sistema.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Dados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228600"/>
          </a:xfrm>
          <a:prstGeom prst="roundRect">
            <a:avLst>
              <a:gd name="adj" fmla="val 20000"/>
            </a:avLst>
          </a:prstGeom>
          <a:solidFill>
            <a:srgbClr val="27745A">
              <a:alpha val="20000"/>
            </a:srgbClr>
          </a:solidFill>
          <a:ln w="12700">
            <a:solidFill>
              <a:srgbClr val="2774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745A"/>
                </a:solidFill>
              </a:rPr>
              <a:t>MySQL — 6 Tabelas Relacionadas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754880" cy="3794760"/>
          </a:xfrm>
          <a:prstGeom prst="roundRect">
            <a:avLst>
              <a:gd name="adj" fmla="val 241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16128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6128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16128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1155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database.sql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399032"/>
            <a:ext cx="448056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Tabela de agendamentos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agendamentos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    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cliente_id 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servico_id 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data_hora      DATETIME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    ENUM('pendente','confirmado',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'concluido','cancelado')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DEFAULT 'pendente',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valor_pago     DECIMAL(10,2),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forma_pagamento ENUM('credito','debito',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'pix','dinheiro'),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criado_em      TIMESTAMP DEFAULT CURRENT_TIMESTAMP,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(cliente_id) REFERENCES clientes(id),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(servico_id) REFERENCES servicos(id)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49240" y="1051560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8112" y="108813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68112" y="13075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nome, email, senha_hash, pontos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49240" y="1645920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16824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68112" y="19019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nome, preco, duracao, categoria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49240" y="2240280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227685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agendamentos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68112" y="24963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FK clientes + servicos, data_hora, status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349240" y="2834640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287121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avaliacoes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68112" y="30906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FK agendamentos, nota ENUM, comentario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49240" y="3429000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346557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cupons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68112" y="36850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codigo UNIQUE, desconto, pontos_necessarios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49240" y="4023360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68112" y="405993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cupons_resgatados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68112" y="42793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FK clientes + cupons, usado_em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PHP — Conexão e Padrão de Resposta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837944" cy="228600"/>
          </a:xfrm>
          <a:prstGeom prst="roundRect">
            <a:avLst>
              <a:gd name="adj" fmla="val 20000"/>
            </a:avLst>
          </a:prstGeom>
          <a:solidFill>
            <a:srgbClr val="C9A84C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86384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</a:rPr>
              <a:t>includes/config.php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1887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1887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1430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includes/config.php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426464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Singleton PDO — reutiliza a mesma conexão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db(): PDO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$pdo = null;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($pdo === null)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$dsn = "mysql:host=localhost;dbname=goldtouch;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charset=utf8mb4";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$pdo = new PDO($dsn, DB_USER, DB_PASS,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PDO::ATTR_ERRMODE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=&gt; PDO::ERRMODE_EXCEPTION,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PDO::ATTR_DEFAULT_FETCH_MODE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=&gt; PDO::FETCH_ASSOC,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PDO::ATTR_EMULATE_PREPARES =&gt; false,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$pdo;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Sempre devolve JSON com o status HTTP correto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json_response(array $data,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int $status = 200): void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http_response_code($status);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header('Content-Type: application/json;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charset=utf-8');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json_encode($data,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JSON_UNESCAPED_UNICODE);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0" y="1078992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17043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PDO com Prepared Statements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14630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 contra SQL Injection em todas as queries.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2359152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45059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 json_response()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2743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rota PHP termina com essa função. Status HTTP + JSON padronizado.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3639312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373075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  Singleton db()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6440" y="4023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única conexão por request. Reutilizada em todo o PHP.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 — Login com bcrypt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2743200" cy="228600"/>
          </a:xfrm>
          <a:prstGeom prst="roundRect">
            <a:avLst>
              <a:gd name="adj" fmla="val 20000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863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api/auth.php  →  ?action=login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937760" cy="384048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1887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1887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1430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api/auth.php  →  POST ?action=login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426464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Recebe JSON do JavaScript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$body  = json_decode(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file_get_contents('php://input'),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true);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 = trim($body['email'] ?? '');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$senha = $body['senha']      ?? '';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Busca cliente no banco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db()-&gt;prepare(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'SELECT * FROM clientes WHERE email = ?'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$stmt-&gt;execute([$email]);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$cliente = $stmt-&gt;fetch();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Verifica hash bcrypt — nunca guarda senha pura!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(!$cliente ||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!password_verify($senha,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$cliente['senha_hash']))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json_response(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['erro' =&gt; 'E-mail ou senha incorretos.'],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401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Salva sessão e responde com 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$_SESSION['cliente'] =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'id'    =&gt; $cliente['id'],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'nome'  =&gt; $cliente['nome'],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'pontos'=&gt; $cliente['pontos'],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json_response(['sucesso' =&gt; 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'cliente' =&gt; $_SESSION['cliente']]);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32120" y="1097280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10972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envia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12984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email, senha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 JSON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96712" y="1444752"/>
            <a:ext cx="0" cy="41148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1856232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18562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lê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057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php://input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json_decode()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96712" y="2203704"/>
            <a:ext cx="0" cy="41148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2615184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26151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SELECT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28163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email = 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 stmt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96712" y="2962656"/>
            <a:ext cx="0" cy="41148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32120" y="3374136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3374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33741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357530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password_verify()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nunca texto puro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96712" y="3721608"/>
            <a:ext cx="0" cy="41148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32120" y="4133088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41330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0" y="433425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JSON response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um Agendamento — Lógica de Negócio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3813048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2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86384"/>
            <a:ext cx="3813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</a:rPr>
              <a:t>api/agendamentos.php  →  POST ?action=criar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1887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1887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1430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api/agendamentos.php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426464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exige_login(); // Bloqueia sem sessão → 401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$body   = json_decode(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file_get_contents('php://input'), true);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$servico_id = intval($body['servico_id'] ?? 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$data_hora  = $body['data'].' '.$body['hora'].':00';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1. Verifica conflito de horário 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$conf = db()-&gt;prepare(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"SELECT id FROM agendamentos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WHERE data_hora = 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AND status NOT IN ('cancelado')"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$conf-&gt;execute([$data_hora]);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($conf-&gt;fetch())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json_response(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['erro' =&gt; 'Horário já ocupado.'], 409);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2. Insere e adiciona pontos 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$ins = db()-&gt;prepare(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"INSERT INTO agendamentos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(cliente_id, servico_id,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data_hora, status, valor_pago,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forma_pagamento)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VALUES (?,?,?,'confirmado',?,?)"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$ins-&gt;execute([...]);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db()-&gt;prepare(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"UPDATE clientes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SET pontos = pontos + ? WHERE id = ?"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)-&gt;execute([PONTOS_POR_SERVICO, $id]);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json_response(['sucesso'=&gt;true,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'agendamento_id'=&gt;$ag_id]);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60720" y="1078992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16213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1704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exige_login()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1463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$_SESSION antes de qualquer operação. Retorna 401 se não logado.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359152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16213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24505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Verificação de conflito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97880" y="2743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antes do INSERT garante que dois clientes não marquem o mesmo horário.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3639312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16213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37307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Sistema de pontos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4023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atômico no banco. +50 pontos por serviço realizado.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— Camada de API com fetch()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2249424" cy="228600"/>
          </a:xfrm>
          <a:prstGeom prst="roundRect">
            <a:avLst>
              <a:gd name="adj" fmla="val 20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86384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js/app.js  →  Objeto API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1887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1887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1430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js/app.js  →  const API = { ... 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426464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Todas as chamadas ao backend centralizadas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 um único objeto — fácil de manter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API = {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Helper genérico: qualquer método + endpoint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req(endpoint, method='GET', body=null){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opts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method,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headers: { 'Content-Type':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'application/json'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credentials: 'same-origin',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(body) opts.body = JSON.stringify(body);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 = await fetch(endpoint, opts);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await res.json();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ok: res.ok, status: res.status,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data 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Namespaces por domínio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login:  (d) =&gt;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API.req('api/auth.php?action=login',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'POST', d),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logout: () =&gt;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API.req('api/auth.php?action=logout',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'POST'),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agendamentos: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criar: (d) =&gt;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API.req('api/agendamentos.php'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+'?action=criar', 'POST', d),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meus:  () =&gt;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API.req('api/agendamentos.php?action=meus'),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0" y="1078992"/>
            <a:ext cx="1664208" cy="1737360"/>
          </a:xfrm>
          <a:prstGeom prst="roundRect">
            <a:avLst>
              <a:gd name="adj" fmla="val 4396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0" y="118872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1490472"/>
            <a:ext cx="14813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as 12 chamadas ao backend ficam em um objeto só. Mudou a rota? Altera em 1 lugar.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52360" y="1078992"/>
            <a:ext cx="1664208" cy="1737360"/>
          </a:xfrm>
          <a:prstGeom prst="roundRect">
            <a:avLst>
              <a:gd name="adj" fmla="val 4396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43800" y="118872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Async/Await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43800" y="1490472"/>
            <a:ext cx="14813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assíncrono legível. Sem callback hell. Tratamento de erro uniforme.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0" y="2999232"/>
            <a:ext cx="1664208" cy="1737360"/>
          </a:xfrm>
          <a:prstGeom prst="roundRect">
            <a:avLst>
              <a:gd name="adj" fmla="val 4396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0" y="310896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nativo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3410712"/>
            <a:ext cx="14813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fetch() com header Content-Type JSON. PHP lê com json_decode(php://input).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52360" y="2999232"/>
            <a:ext cx="1664208" cy="1737360"/>
          </a:xfrm>
          <a:prstGeom prst="roundRect">
            <a:avLst>
              <a:gd name="adj" fmla="val 4396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43800" y="310896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43800" y="3410712"/>
            <a:ext cx="14813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'same-origin' garante que os cookies de sessão PHP são enviados junto.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Completo — Agendamento Online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731520" cy="731520"/>
          </a:xfrm>
          <a:prstGeom prst="ellipse">
            <a:avLst/>
          </a:prstGeom>
          <a:solidFill>
            <a:srgbClr val="3B82F6">
              <a:alpha val="8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868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" y="17373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'Agendar'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1280160"/>
            <a:ext cx="5029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1508760" y="914400"/>
            <a:ext cx="731520" cy="731520"/>
          </a:xfrm>
          <a:prstGeom prst="ellipse">
            <a:avLst/>
          </a:prstGeom>
          <a:solidFill>
            <a:srgbClr val="8B5CF6">
              <a:alpha val="8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57400" y="868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17373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data/hora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40280" y="1280160"/>
            <a:ext cx="50292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>
            <a:off x="2743200" y="914400"/>
            <a:ext cx="731520" cy="731520"/>
          </a:xfrm>
          <a:prstGeom prst="ellipse">
            <a:avLst/>
          </a:prstGeom>
          <a:solidFill>
            <a:srgbClr val="C9A84C">
              <a:alpha val="80000"/>
            </a:srgbClr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868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17373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0" y="1280160"/>
            <a:ext cx="50292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ysDot"/>
          </a:ln>
        </p:spPr>
      </p:sp>
      <p:sp>
        <p:nvSpPr>
          <p:cNvPr id="18" name="Shape 16"/>
          <p:cNvSpPr/>
          <p:nvPr/>
        </p:nvSpPr>
        <p:spPr>
          <a:xfrm>
            <a:off x="3977640" y="914400"/>
            <a:ext cx="731520" cy="731520"/>
          </a:xfrm>
          <a:prstGeom prst="ellipse">
            <a:avLst/>
          </a:prstGeom>
          <a:solidFill>
            <a:srgbClr val="F97316">
              <a:alpha val="80000"/>
            </a:srgbClr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26280" y="868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86200" y="17373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verifica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conflito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1280160"/>
            <a:ext cx="50292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ysDot"/>
          </a:ln>
        </p:spPr>
      </p:sp>
      <p:sp>
        <p:nvSpPr>
          <p:cNvPr id="23" name="Shape 21"/>
          <p:cNvSpPr/>
          <p:nvPr/>
        </p:nvSpPr>
        <p:spPr>
          <a:xfrm>
            <a:off x="5212080" y="914400"/>
            <a:ext cx="731520" cy="731520"/>
          </a:xfrm>
          <a:prstGeom prst="ellipse">
            <a:avLst/>
          </a:prstGeom>
          <a:solidFill>
            <a:srgbClr val="EF4444">
              <a:alpha val="8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760720" y="868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17373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no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1280160"/>
            <a:ext cx="5029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ysDot"/>
          </a:ln>
        </p:spPr>
      </p:sp>
      <p:sp>
        <p:nvSpPr>
          <p:cNvPr id="28" name="Shape 26"/>
          <p:cNvSpPr/>
          <p:nvPr/>
        </p:nvSpPr>
        <p:spPr>
          <a:xfrm>
            <a:off x="6446520" y="914400"/>
            <a:ext cx="731520" cy="731520"/>
          </a:xfrm>
          <a:prstGeom prst="ellipse">
            <a:avLst/>
          </a:prstGeom>
          <a:solidFill>
            <a:srgbClr val="10B981">
              <a:alpha val="8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995160" y="868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17373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 ao JS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78040" y="1280160"/>
            <a:ext cx="5029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ysDot"/>
          </a:ln>
        </p:spPr>
      </p:sp>
      <p:sp>
        <p:nvSpPr>
          <p:cNvPr id="33" name="Shape 31"/>
          <p:cNvSpPr/>
          <p:nvPr/>
        </p:nvSpPr>
        <p:spPr>
          <a:xfrm>
            <a:off x="7680960" y="914400"/>
            <a:ext cx="731520" cy="731520"/>
          </a:xfrm>
          <a:prstGeom prst="ellipse">
            <a:avLst/>
          </a:prstGeom>
          <a:solidFill>
            <a:srgbClr val="E8D08A">
              <a:alpha val="80000"/>
            </a:srgbClr>
          </a:solidFill>
          <a:ln w="25400">
            <a:solidFill>
              <a:srgbClr val="E8D0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🎉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229600" y="868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89520" y="17373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confirmação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2395728"/>
            <a:ext cx="5029200" cy="2560320"/>
          </a:xfrm>
          <a:prstGeom prst="roundRect">
            <a:avLst>
              <a:gd name="adj" fmla="val 357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0352" y="250545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250545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2688" y="250545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245973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js/app.js  →  confirmarAgendamento()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" y="274320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Usuário clica "Confirmar" (step 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confirmarAgendamento()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btn = document.getElementById('btnConfirmar');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setLoading(btn, true); // spinner no botão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payload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servico_id:      State.servicoSelecionado.id,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           State.dataSelecionada,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hora:            State.horaSelecionada,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forma_pagamento: State.formaPagamento,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cupom:           State.cupomAplicado || '',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JS envia JSON → PHP processa → recebe 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ok, data }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API.agendamentos.criar(payload);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setLoading(btn, false);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(ok)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fecharModal('modalAgendar');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Exibe confirmação com os dados do retorno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document.getElementById(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'confirmacaoMensagem'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).innerHTML = `✓ ${data.servico}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📅 ${data.data_hora}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⭐ +${data.pontos_ganhos} pontos!`;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abrirModal('modalConfirmacao');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toast('Horário confirmado! ✨', 'success');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toast(data.erro, 'error');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0" y="2395728"/>
            <a:ext cx="3429000" cy="2560320"/>
          </a:xfrm>
          <a:prstGeom prst="roundRect">
            <a:avLst>
              <a:gd name="adj" fmla="val 357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650992" y="250545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52160" y="250545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53328" y="250545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245973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api/agendamentos.php  →  resposta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23560" y="2743200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PHP verifica, salva e retorna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json_response([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'sucesso'        =&gt; 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'agendamento_id' =&gt; $ag_id,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'servico'        =&gt; $servico['nome'],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'data_hora'      =&gt; $data_hora,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'valor'          =&gt; 'R$ 80,00',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'pontos_ganhos'  =&gt; 50,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'mensagem'       =&gt; 'Limite de espera: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15 minutos.',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— Design System com Variables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344168" cy="228600"/>
          </a:xfrm>
          <a:prstGeom prst="roundRect">
            <a:avLst>
              <a:gd name="adj" fmla="val 20000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86384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C4899"/>
                </a:solidFill>
              </a:rPr>
              <a:t>css/style.css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572000" cy="384048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1887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1887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1430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css/style.css  →  :root { ... 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426464"/>
            <a:ext cx="42976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Paleta dourada — um lugar só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--gold:       #C9A84C;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--gold-light: #E8D08A;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--gold-dark:  #9A7830;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--creme:      #FAF7F2;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--text:       #2C2C2C;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--border:     #E2D9CC;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Tokens de design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--radius:     12px;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--shadow:     0 4px 24px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rgba(0,0,0,0.08);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--transition: 0.22s cubic-bezier(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0.4,0,0.2,1);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Botão principal — usa as variables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.btn-primary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linear-gradient(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135deg,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var(--gold),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var(--gold-dark)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#fff;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var(--radius-sm);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all var(--transition);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.btn-primary:hover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translateY(-1px);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6px 18px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rgba(201,168,76,0.35);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120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1463040"/>
            <a:ext cx="457200" cy="384048"/>
          </a:xfrm>
          <a:prstGeom prst="roundRect">
            <a:avLst>
              <a:gd name="adj" fmla="val 9524"/>
            </a:avLst>
          </a:prstGeom>
          <a:solidFill>
            <a:srgbClr val="C9A84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14813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--gold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42432" y="1664208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Dourado principal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12080" y="2029968"/>
            <a:ext cx="457200" cy="384048"/>
          </a:xfrm>
          <a:prstGeom prst="roundRect">
            <a:avLst>
              <a:gd name="adj" fmla="val 9524"/>
            </a:avLst>
          </a:prstGeom>
          <a:solidFill>
            <a:srgbClr val="E8D08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2432" y="204825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--gold-light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42432" y="2231136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Dourado claro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12080" y="2596896"/>
            <a:ext cx="457200" cy="384048"/>
          </a:xfrm>
          <a:prstGeom prst="roundRect">
            <a:avLst>
              <a:gd name="adj" fmla="val 9524"/>
            </a:avLst>
          </a:prstGeom>
          <a:solidFill>
            <a:srgbClr val="9A783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42432" y="26151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--gold-dark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42432" y="2798064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Dourado escuro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0" y="3163824"/>
            <a:ext cx="457200" cy="384048"/>
          </a:xfrm>
          <a:prstGeom prst="roundRect">
            <a:avLst>
              <a:gd name="adj" fmla="val 9524"/>
            </a:avLst>
          </a:prstGeom>
          <a:solidFill>
            <a:srgbClr val="FAF7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31821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--creme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42432" y="336499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Fundo creme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12080" y="3730752"/>
            <a:ext cx="457200" cy="384048"/>
          </a:xfrm>
          <a:prstGeom prst="roundRect">
            <a:avLst>
              <a:gd name="adj" fmla="val 9524"/>
            </a:avLst>
          </a:prstGeom>
          <a:solidFill>
            <a:srgbClr val="2C2C2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3749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--text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432" y="3931920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1208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CSS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de serviço  ·  Modal com 3 steps  ·  Toast notifications  ·  Calendário inline  ·  Responsive grid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Implementadas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completa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Registro, login, logout e controle de sessão. Senhas em bcrypt.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058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49240" y="10972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Agendamento em 3 steps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49240" y="137160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Calendário com horários em tempo real. Conflito verificado no banco.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1168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21031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cupons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3774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server-side. Desconto aplicado automaticamente no valor.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01168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49240" y="21031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por fidelidade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9240" y="23774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 pontos por serviço. Resgate cupons com pontos acumulados.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1752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31089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Avaliações públicas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38328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autenticado. Listagem das reviews de todas as clientes.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01752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49240" y="31089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responsivo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338328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mobile-first. CSS Grid + Flexbox sem frameworks externos.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0233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2336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14400" y="41148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 conta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438912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agendamentos. Cancelamento com regra de negócio (2h).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402336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02336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49240" y="41148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mensais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438912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planos no banco (Prata, Ouro, Diamante). Dados vindos do MySQL.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— Boas Práticas Aplicadas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251960" cy="41148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SQL Injection — Prepared Statements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251960" cy="2423160"/>
          </a:xfrm>
          <a:prstGeom prst="roundRect">
            <a:avLst>
              <a:gd name="adj" fmla="val 37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52704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2704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52704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64792"/>
            <a:ext cx="39776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CORRETO — parâmetro separado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db()-&gt;prepare(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'SELECT * FROM clientes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email = ?'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$stmt-&gt;execute([$email]);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ERRADO — vulnerável a injeção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 = "SELECT * FROM clientes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WHERE email = '$email'";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4251960" cy="41148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Senhas — bcrypt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00600" y="1417320"/>
            <a:ext cx="4251960" cy="2423160"/>
          </a:xfrm>
          <a:prstGeom prst="roundRect">
            <a:avLst>
              <a:gd name="adj" fmla="val 377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65192" y="152704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152704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67528" y="152704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764792"/>
            <a:ext cx="39776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registro — nunca grava puro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$hash = password_hash(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$senha,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PASSWORD_BCRYPT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login — compara hash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(!password_verify($senha,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$cliente['senha_hash'])){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json_response(['erro' =&gt; '...'], 401);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Sessão PHP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427939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$_SESSION guarda o cliente logado. exige_login() bloqueia rotas privadas com HTTP 401.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64408" y="393192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Validação dupla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55848" y="427939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validados no JS (UX) e novamente no PHP (segurança). O JS nunca é suficiente.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08776" y="393192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HTTP Status codes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0216" y="427939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OK, 401 Unauthorized, 404 Not Found, 409 Conflict, 422 Unprocessable — REST correto.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Instalação e Demonstração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754880" cy="384048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30352" y="116128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6128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16128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1155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Importar o banco de dados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-u root -p &lt; database.sql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Configurar credenciais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editar includes/config.php: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define('DB_HOST', 'localhost');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define('DB_USER', 'root');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define('DB_PASS', 'sua_senha');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define('DB_NAME', 'goldtouch');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Iniciar servidor PHP local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goldtouch/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-S localhost:8080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Abrir no navegador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http://localhost:8080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94960" y="1051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de demonstração ao professor: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1453896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1453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87568" y="14173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DevTools → aba Network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4960" y="1856232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856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87568" y="181965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uma conta nova → ver POST /api/auth.php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2258568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22585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87568" y="222199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o JSON de resposta com os dados da sessão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2660904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26609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87568" y="262432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serviço → filtrar por categoria (GET)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3063240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3063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87568" y="302666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Agendar: calendário + horários livres (GET)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94960" y="3465576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34655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87568" y="342900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+ aplicar cupom TARDE20 → ver desconto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94960" y="3867912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38679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87568" y="383133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→ ver INSERT no banco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94960" y="4270248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4270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87568" y="423367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em 'Minha conta' → ver agendamento listado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94960" y="4672584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4672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87568" y="4636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→ ver feedback salvo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457200"/>
            <a:ext cx="3200400" cy="320040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200400"/>
            <a:ext cx="1828800" cy="1828800"/>
          </a:xfrm>
          <a:prstGeom prst="ellipse">
            <a:avLst/>
          </a:prstGeom>
          <a:solidFill>
            <a:srgbClr val="C9A84C">
              <a:alpha val="8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-457200"/>
            <a:ext cx="1828800" cy="1828800"/>
          </a:xfrm>
          <a:prstGeom prst="ellipse">
            <a:avLst/>
          </a:prstGeom>
          <a:solidFill>
            <a:srgbClr val="E8D08A">
              <a:alpha val="7000"/>
            </a:srgbClr>
          </a:solidFill>
          <a:ln w="12700">
            <a:solidFill>
              <a:srgbClr val="E8D0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229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i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Touch — Estética &amp; Beleza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1536192" cy="1188720"/>
          </a:xfrm>
          <a:prstGeom prst="roundRect">
            <a:avLst>
              <a:gd name="adj" fmla="val 6154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2608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67128" y="2788920"/>
            <a:ext cx="1536192" cy="1188720"/>
          </a:xfrm>
          <a:prstGeom prst="roundRect">
            <a:avLst>
              <a:gd name="adj" fmla="val 6154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67128" y="292608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67128" y="329184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tabelas + FK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31336" y="2788920"/>
            <a:ext cx="1536192" cy="1188720"/>
          </a:xfrm>
          <a:prstGeom prst="roundRect">
            <a:avLst>
              <a:gd name="adj" fmla="val 6154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292608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31336" y="329184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fetch() + SPA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95544" y="2788920"/>
            <a:ext cx="1536192" cy="1188720"/>
          </a:xfrm>
          <a:prstGeom prst="roundRect">
            <a:avLst>
              <a:gd name="adj" fmla="val 6154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95544" y="292608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95544" y="329184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frameworks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59752" y="2788920"/>
            <a:ext cx="1536192" cy="1188720"/>
          </a:xfrm>
          <a:prstGeom prst="roundRect">
            <a:avLst>
              <a:gd name="adj" fmla="val 6154"/>
            </a:avLst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9752" y="292608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59752" y="329184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Touch — Apresentação do Projeto</dc:title>
  <dc:subject>PptxGenJS Presentation</dc:subject>
  <dc:creator>Grupo Gold Touch</dc:creator>
  <cp:lastModifiedBy>Grupo Gold Touch</cp:lastModifiedBy>
  <cp:revision>1</cp:revision>
  <dcterms:created xsi:type="dcterms:W3CDTF">2026-07-05T18:24:39Z</dcterms:created>
  <dcterms:modified xsi:type="dcterms:W3CDTF">2026-07-05T18:24:39Z</dcterms:modified>
</cp:coreProperties>
</file>